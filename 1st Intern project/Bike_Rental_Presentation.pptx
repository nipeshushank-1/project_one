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3">
                <a:lumMod val="50000"/>
              </a:schemeClr>
            </a:gs>
            <a:gs pos="67000">
              <a:schemeClr val="accent3">
                <a:lumMod val="75000"/>
              </a:schemeClr>
            </a:gs>
            <a:gs pos="100000">
              <a:schemeClr val="accent3">
                <a:lumMod val="40000"/>
                <a:lumOff val="60000"/>
              </a:schemeClr>
            </a:gs>
            <a:gs pos="88000">
              <a:schemeClr val="accent3">
                <a:lumMod val="60000"/>
                <a:lumOff val="4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tx2">
                <a:lumMod val="50000"/>
              </a:schemeClr>
            </a:gs>
            <a:gs pos="67000">
              <a:schemeClr val="tx2">
                <a:lumMod val="75000"/>
              </a:schemeClr>
            </a:gs>
            <a:gs pos="100000">
              <a:schemeClr val="tx2">
                <a:lumMod val="40000"/>
                <a:lumOff val="60000"/>
              </a:schemeClr>
            </a:gs>
            <a:gs pos="88000">
              <a:schemeClr val="tx2">
                <a:lumMod val="60000"/>
                <a:lumOff val="4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96303" y="4445875"/>
            <a:ext cx="316511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lang="en-US" sz="1600" b="1" i="1" dirty="0">
                <a:solidFill>
                  <a:srgbClr val="FFFF00"/>
                </a:solidFill>
              </a:rPr>
              <a:t>By:-</a:t>
            </a:r>
          </a:p>
          <a:p>
            <a:pPr algn="ctr">
              <a:defRPr sz="3200" b="1">
                <a:solidFill>
                  <a:srgbClr val="142850"/>
                </a:solidFill>
              </a:defRPr>
            </a:pPr>
            <a:r>
              <a:rPr lang="en-US" sz="2400" b="1" i="1" dirty="0">
                <a:solidFill>
                  <a:srgbClr val="FFC000"/>
                </a:solidFill>
              </a:rPr>
              <a:t>Nipesh Ushank</a:t>
            </a:r>
          </a:p>
          <a:p>
            <a:pPr algn="ctr">
              <a:defRPr sz="3200" b="1">
                <a:solidFill>
                  <a:srgbClr val="142850"/>
                </a:solidFill>
              </a:defRPr>
            </a:pPr>
            <a:r>
              <a:rPr lang="en-US" sz="1600" b="1" i="1" dirty="0">
                <a:solidFill>
                  <a:schemeClr val="bg1">
                    <a:lumMod val="85000"/>
                  </a:schemeClr>
                </a:solidFill>
              </a:rPr>
              <a:t>11ds280126-1189</a:t>
            </a:r>
          </a:p>
          <a:p>
            <a:pPr algn="ctr">
              <a:defRPr sz="3200" b="1">
                <a:solidFill>
                  <a:srgbClr val="142850"/>
                </a:solidFill>
              </a:defRPr>
            </a:pPr>
            <a:r>
              <a:rPr lang="en-US" sz="1600" b="1" i="1" dirty="0" err="1">
                <a:solidFill>
                  <a:schemeClr val="bg1">
                    <a:lumMod val="85000"/>
                  </a:schemeClr>
                </a:solidFill>
              </a:rPr>
              <a:t>Digicrome</a:t>
            </a:r>
            <a:endParaRPr lang="en-US" sz="1600" b="1" i="1" dirty="0">
              <a:solidFill>
                <a:schemeClr val="bg1">
                  <a:lumMod val="85000"/>
                </a:schemeClr>
              </a:solidFill>
            </a:endParaRPr>
          </a:p>
          <a:p>
            <a:pPr algn="ctr">
              <a:defRPr sz="3200" b="1">
                <a:solidFill>
                  <a:srgbClr val="142850"/>
                </a:solidFill>
              </a:defRPr>
            </a:pPr>
            <a:r>
              <a:rPr lang="en-IN" sz="1600" i="1" dirty="0">
                <a:solidFill>
                  <a:schemeClr val="bg1">
                    <a:lumMod val="85000"/>
                  </a:schemeClr>
                </a:solidFill>
              </a:rPr>
              <a:t>NextHikes IT Solutions</a:t>
            </a:r>
            <a:endParaRPr sz="16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807398-11BD-4389-825C-9341A9C01F90}"/>
              </a:ext>
            </a:extLst>
          </p:cNvPr>
          <p:cNvSpPr txBox="1"/>
          <p:nvPr/>
        </p:nvSpPr>
        <p:spPr>
          <a:xfrm>
            <a:off x="1506735" y="2201918"/>
            <a:ext cx="6267165" cy="1723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2850"/>
                </a:solidFill>
              </a:defRPr>
            </a:pPr>
            <a:r>
              <a:rPr sz="4400" i="1" dirty="0">
                <a:solidFill>
                  <a:schemeClr val="bg1"/>
                </a:solidFill>
              </a:rPr>
              <a:t>Bike Rental Company</a:t>
            </a:r>
            <a:br>
              <a:rPr sz="4400" i="1" dirty="0">
                <a:solidFill>
                  <a:schemeClr val="bg1"/>
                </a:solidFill>
              </a:rPr>
            </a:br>
            <a:r>
              <a:rPr sz="4400" i="1" dirty="0">
                <a:solidFill>
                  <a:schemeClr val="bg1"/>
                </a:solidFill>
              </a:rPr>
              <a:t>Performance Analysis</a:t>
            </a:r>
          </a:p>
          <a:p>
            <a:pPr algn="ctr">
              <a:defRPr sz="1800">
                <a:solidFill>
                  <a:srgbClr val="3498DB"/>
                </a:solidFill>
              </a:defRPr>
            </a:pPr>
            <a:r>
              <a:rPr b="1" dirty="0">
                <a:solidFill>
                  <a:srgbClr val="FFC000"/>
                </a:solidFill>
              </a:rPr>
              <a:t>Business Insights Using Weather, Temperature &amp; Customer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0" y="732079"/>
            <a:ext cx="2045881" cy="492443"/>
          </a:xfrm>
          <a:prstGeom prst="rect">
            <a:avLst/>
          </a:prstGeom>
          <a:noFill/>
          <a:ln w="34925" cap="rnd" cmpd="sng">
            <a:solidFill>
              <a:srgbClr val="00B0F0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850"/>
                </a:solidFill>
              </a:defRPr>
            </a:pPr>
            <a:r>
              <a:rPr lang="en-US" i="1" dirty="0">
                <a:solidFill>
                  <a:schemeClr val="bg1"/>
                </a:solidFill>
              </a:rPr>
              <a:t>  </a:t>
            </a:r>
            <a:r>
              <a:rPr i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241" y="1802524"/>
            <a:ext cx="81455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sz="2400" b="1" dirty="0">
                <a:solidFill>
                  <a:schemeClr val="bg1"/>
                </a:solidFill>
              </a:rPr>
              <a:t>• Analyze bike rental performance using customer and environmental data.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400" b="1" dirty="0">
                <a:solidFill>
                  <a:schemeClr val="bg1"/>
                </a:solidFill>
              </a:rPr>
              <a:t>• Study the impact of weather, temperature, weekdays, and customer categories.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400" b="1" dirty="0">
                <a:solidFill>
                  <a:schemeClr val="bg1"/>
                </a:solidFill>
              </a:rPr>
              <a:t>• Identify peak rental periods and customer behavior patterns.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400" b="1" dirty="0">
                <a:solidFill>
                  <a:schemeClr val="bg1"/>
                </a:solidFill>
              </a:rPr>
              <a:t>• Improve operational planning, marketing, and profitability.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402334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850"/>
                </a:solidFill>
              </a:defRPr>
            </a:pPr>
            <a:r>
              <a:rPr i="1" dirty="0">
                <a:solidFill>
                  <a:schemeClr val="bg1"/>
                </a:solidFill>
              </a:rPr>
              <a:t> Weather Impact on Rentals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181363"/>
            <a:ext cx="717331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Cloudy weather recorded the highest rentals (39%).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Sunny weather contributed 31% of total rentals.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Rainy weather reduced customer demand.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Stormy weather generated the lowest rentals (3%).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Moderate weather conditions increase bike usage.</a:t>
            </a:r>
          </a:p>
        </p:txBody>
      </p:sp>
      <p:pic>
        <p:nvPicPr>
          <p:cNvPr id="4" name="Picture 3" descr="image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16" y="2923105"/>
            <a:ext cx="7341570" cy="37520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548932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850"/>
                </a:solidFill>
              </a:defRPr>
            </a:pPr>
            <a:r>
              <a:rPr i="1" dirty="0">
                <a:solidFill>
                  <a:schemeClr val="bg1"/>
                </a:solidFill>
              </a:rPr>
              <a:t>Weather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5873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Weather strongly affects customer decisions.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Forecasting helps manage bike inventory.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Offer rainy-day discounts and promotions.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Provide safety accessories during poor weather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49552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850"/>
                </a:solidFill>
              </a:defRPr>
            </a:pPr>
            <a:r>
              <a:rPr i="1" dirty="0">
                <a:solidFill>
                  <a:schemeClr val="bg1"/>
                </a:solidFill>
              </a:rPr>
              <a:t> Weekday Customer Visits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55281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Thursday recorded the highest rentals (~9,095 customers).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Registered users contribute the majority of rentals.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Casual riders increase during weekends.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Weekday commuting drives rental demand.</a:t>
            </a:r>
          </a:p>
        </p:txBody>
      </p:sp>
      <p:pic>
        <p:nvPicPr>
          <p:cNvPr id="4" name="Picture 3" descr="image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2678035"/>
            <a:ext cx="8229600" cy="38383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536031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850"/>
                </a:solidFill>
              </a:defRPr>
            </a:pPr>
            <a:r>
              <a:rPr i="1" dirty="0">
                <a:solidFill>
                  <a:schemeClr val="bg1"/>
                </a:solidFill>
              </a:rPr>
              <a:t>Weekday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282152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Increase bikes during peak weekday hours.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Launch loyalty programs for registered users.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Introduce weekend packages for casual riders.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Improve demand-based inventory planning.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37894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850"/>
                </a:solidFill>
              </a:defRPr>
            </a:pPr>
            <a:r>
              <a:rPr lang="en-US" sz="2800" i="1" dirty="0">
                <a:solidFill>
                  <a:schemeClr val="bg1"/>
                </a:solidFill>
              </a:rPr>
              <a:t> </a:t>
            </a:r>
            <a:r>
              <a:rPr sz="2800" i="1" dirty="0">
                <a:solidFill>
                  <a:schemeClr val="bg1"/>
                </a:solidFill>
              </a:rPr>
              <a:t>Customer Visits by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44400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Daily rentals fluctuate over time.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Peak rental days reached nearly 2,000 customers.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Low-demand days may occur due to weather or holidays.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The trendline shows steady business growth</a:t>
            </a:r>
            <a:r>
              <a:rPr sz="2000" b="1" dirty="0"/>
              <a:t>.</a:t>
            </a:r>
          </a:p>
        </p:txBody>
      </p:sp>
      <p:pic>
        <p:nvPicPr>
          <p:cNvPr id="4" name="Picture 3" descr="image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37" y="2709566"/>
            <a:ext cx="8153926" cy="38699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35716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850"/>
                </a:solidFill>
              </a:defRPr>
            </a:pPr>
            <a:r>
              <a:rPr sz="2800" i="1" dirty="0">
                <a:solidFill>
                  <a:schemeClr val="bg1"/>
                </a:solidFill>
              </a:rPr>
              <a:t>Customer Visit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9807" y="1455683"/>
            <a:ext cx="5487592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Customer demand is increasing steadily.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Predictive analytics can improve planning.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Increase inventory during high-demand periods.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Monitor trends for operational efficiency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49550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850"/>
                </a:solidFill>
              </a:defRPr>
            </a:pPr>
            <a:r>
              <a:rPr sz="2800" i="1" dirty="0">
                <a:solidFill>
                  <a:schemeClr val="bg1"/>
                </a:solidFill>
              </a:rPr>
              <a:t> Customer Registrations by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351611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Most registrations fall between 500–1500 users.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Some dates exceeded 1500 registrations.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Registrations depend on weather and seasonal demand.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Stable registrations indicate strong engagement.</a:t>
            </a:r>
          </a:p>
        </p:txBody>
      </p:sp>
      <p:pic>
        <p:nvPicPr>
          <p:cNvPr id="4" name="Picture 3" descr="image(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55" y="2811899"/>
            <a:ext cx="6645691" cy="3744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48457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850"/>
                </a:solidFill>
              </a:defRPr>
            </a:pPr>
            <a:r>
              <a:rPr sz="2800" i="1" dirty="0">
                <a:solidFill>
                  <a:schemeClr val="bg1"/>
                </a:solidFill>
              </a:rPr>
              <a:t>Registration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73706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Launch targeted marketing campaigns.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Improve digital registration systems.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Offer incentives for new users.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Focus on customer acquisition strategies.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408150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850"/>
                </a:solidFill>
              </a:defRPr>
            </a:pP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i="1" dirty="0">
                <a:solidFill>
                  <a:schemeClr val="bg1"/>
                </a:solidFill>
              </a:rPr>
              <a:t>Weather vs Rentals by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73825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Morning rentals are high due to commuting.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Afternoon rentals remain stable.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Evening rentals show the highest activity.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Night rentals remain comparatively lower.</a:t>
            </a:r>
          </a:p>
        </p:txBody>
      </p:sp>
      <p:pic>
        <p:nvPicPr>
          <p:cNvPr id="4" name="Picture 3" descr="image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62" y="2678162"/>
            <a:ext cx="7325709" cy="36070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42000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850"/>
                </a:solidFill>
              </a:defRPr>
            </a:pPr>
            <a:r>
              <a:rPr sz="2800" i="1" dirty="0">
                <a:solidFill>
                  <a:schemeClr val="bg1"/>
                </a:solidFill>
              </a:rPr>
              <a:t>Time-Based Rental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82230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Peak demand occurs during commuting hours.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Increase bike availability in mornings and evenings.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Improve lighting and rider safety.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Introduce evening membership plans.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48560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850"/>
                </a:solidFill>
              </a:defRPr>
            </a:pPr>
            <a:r>
              <a:rPr sz="2800" i="1" dirty="0">
                <a:solidFill>
                  <a:schemeClr val="bg1"/>
                </a:solidFill>
              </a:rPr>
              <a:t>Temperature Impact on Rentals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184385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Moderate temperatures generate the highest demand.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Cold weather reduces customer activity.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Extremely hot weather lowers comfort.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Temperature strongly affects rental behavior.</a:t>
            </a:r>
          </a:p>
        </p:txBody>
      </p:sp>
      <p:pic>
        <p:nvPicPr>
          <p:cNvPr id="4" name="Picture 3" descr="image(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22483"/>
            <a:ext cx="8229599" cy="41526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49404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850"/>
                </a:solidFill>
              </a:defRPr>
            </a:pPr>
            <a:r>
              <a:rPr sz="2800" i="1" dirty="0">
                <a:solidFill>
                  <a:schemeClr val="bg1"/>
                </a:solidFill>
              </a:rPr>
              <a:t>Temperature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92012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Introduce seasonal pricing strategies.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Offer winter discounts to maintain activity.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Promote rider safety during hot weather.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Use seasonal marketing campaigns.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793" y="277473"/>
            <a:ext cx="60974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850"/>
                </a:solidFill>
              </a:defRPr>
            </a:pPr>
            <a:r>
              <a:rPr sz="2800" i="1" dirty="0">
                <a:solidFill>
                  <a:schemeClr val="bg1"/>
                </a:solidFill>
              </a:rPr>
              <a:t>Overall Business 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335196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Strong registered customer base.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Rental demand is increasing steadily.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Favorable weather improves customer activity.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Opportunities exist in loyalty programs and promotions.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Challenges include weather dependency.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80289" y="967710"/>
            <a:ext cx="25827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850"/>
                </a:solidFill>
              </a:defRPr>
            </a:pPr>
            <a:r>
              <a:rPr sz="2800" i="1" dirty="0">
                <a:solidFill>
                  <a:schemeClr val="bg1"/>
                </a:solidFill>
              </a:rPr>
              <a:t>Final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3227" y="2002220"/>
            <a:ext cx="6102825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The company shows stable and growing performance.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Weather and temperature significantly affect rentals.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Registered customers generate major revenue.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Strategic planning can maximize profitability.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sz="2000" b="1" dirty="0">
                <a:solidFill>
                  <a:schemeClr val="bg1"/>
                </a:solidFill>
              </a:rPr>
              <a:t>• Customer-focused marketing improves growth.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9000">
              <a:schemeClr val="tx2">
                <a:lumMod val="50000"/>
              </a:schemeClr>
            </a:gs>
            <a:gs pos="67000">
              <a:schemeClr val="accent1">
                <a:lumMod val="75000"/>
              </a:schemeClr>
            </a:gs>
            <a:gs pos="100000">
              <a:schemeClr val="tx2">
                <a:lumMod val="40000"/>
                <a:lumOff val="60000"/>
              </a:schemeClr>
            </a:gs>
            <a:gs pos="88000">
              <a:schemeClr val="tx2">
                <a:lumMod val="60000"/>
                <a:lumOff val="4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6785" y="2412124"/>
            <a:ext cx="3418179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42850"/>
                </a:solidFill>
              </a:defRPr>
            </a:pPr>
            <a:r>
              <a:rPr sz="4400" i="1" dirty="0">
                <a:solidFill>
                  <a:schemeClr val="bg2"/>
                </a:solidFill>
              </a:rPr>
              <a:t>Thank You</a:t>
            </a:r>
          </a:p>
          <a:p>
            <a:pPr algn="ctr">
              <a:defRPr sz="1800">
                <a:solidFill>
                  <a:srgbClr val="3498DB"/>
                </a:solidFill>
              </a:defRPr>
            </a:pPr>
            <a:r>
              <a:rPr dirty="0"/>
              <a:t>Bike Rental Company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577</Words>
  <Application>Microsoft Office PowerPoint</Application>
  <PresentationFormat>On-screen Show (4:3)</PresentationFormat>
  <Paragraphs>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</cp:lastModifiedBy>
  <cp:revision>11</cp:revision>
  <dcterms:created xsi:type="dcterms:W3CDTF">2013-01-27T09:14:16Z</dcterms:created>
  <dcterms:modified xsi:type="dcterms:W3CDTF">2026-05-24T21:01:16Z</dcterms:modified>
  <cp:category/>
</cp:coreProperties>
</file>